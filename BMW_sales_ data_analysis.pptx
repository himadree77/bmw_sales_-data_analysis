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25" r:id="rId1"/>
  </p:sldMasterIdLst>
  <p:notesMasterIdLst>
    <p:notesMasterId r:id="rId19"/>
  </p:notesMasterIdLst>
  <p:sldIdLst>
    <p:sldId id="256" r:id="rId2"/>
    <p:sldId id="259" r:id="rId3"/>
    <p:sldId id="285" r:id="rId4"/>
    <p:sldId id="260" r:id="rId5"/>
    <p:sldId id="261" r:id="rId6"/>
    <p:sldId id="274" r:id="rId7"/>
    <p:sldId id="275" r:id="rId8"/>
    <p:sldId id="276" r:id="rId9"/>
    <p:sldId id="277" r:id="rId10"/>
    <p:sldId id="278" r:id="rId11"/>
    <p:sldId id="279" r:id="rId12"/>
    <p:sldId id="280" r:id="rId13"/>
    <p:sldId id="281" r:id="rId14"/>
    <p:sldId id="282" r:id="rId15"/>
    <p:sldId id="283" r:id="rId16"/>
    <p:sldId id="284" r:id="rId17"/>
    <p:sldId id="273" r:id="rId18"/>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AE6"/>
    <a:srgbClr val="0F172A"/>
    <a:srgbClr val="02C2B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654"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F3367FC9-8379-4072-AD73-A81885873636}" type="datetimeFigureOut">
              <a:rPr lang="en-IN" smtClean="0"/>
              <a:t>05-06-2026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1E924BB9-56CA-424D-A527-42D00296F0EA}" type="slidenum">
              <a:rPr lang="en-IN" smtClean="0"/>
              <a:t>‹#›</a:t>
            </a:fld>
            <a:endParaRPr lang="en-IN"/>
          </a:p>
        </p:txBody>
      </p:sp>
    </p:spTree>
    <p:extLst>
      <p:ext uri="{BB962C8B-B14F-4D97-AF65-F5344CB8AC3E}">
        <p14:creationId xmlns:p14="http://schemas.microsoft.com/office/powerpoint/2010/main" val="2968599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9C3C-EAD8-413C-93E9-08C8F890E8FF}"/>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a:extLst>
              <a:ext uri="{FF2B5EF4-FFF2-40B4-BE49-F238E27FC236}">
                <a16:creationId xmlns:a16="http://schemas.microsoft.com/office/drawing/2014/main" id="{070822D7-DD1B-48D1-B16F-3A0AD4BCDB9A}"/>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1A4DE-97B7-4F05-84D6-8263AE6E845F}"/>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5" name="Footer Placeholder 4">
            <a:extLst>
              <a:ext uri="{FF2B5EF4-FFF2-40B4-BE49-F238E27FC236}">
                <a16:creationId xmlns:a16="http://schemas.microsoft.com/office/drawing/2014/main" id="{E8DBCCE2-EE43-4190-B190-80F8B8378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85918E-F5AC-4766-BAD7-53CA91A8E60B}"/>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4207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A7B8-616A-4193-873E-A28333927E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855E2F-8E32-477E-8B90-862264A165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DD24E6-4B9E-4E7E-8B21-421BC3E75D47}"/>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5" name="Footer Placeholder 4">
            <a:extLst>
              <a:ext uri="{FF2B5EF4-FFF2-40B4-BE49-F238E27FC236}">
                <a16:creationId xmlns:a16="http://schemas.microsoft.com/office/drawing/2014/main" id="{C1510C70-1C05-4777-8752-11740D1C07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8167FE-72B1-4DAF-ABEF-7376A23012DB}"/>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08779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C6DB3-6B56-4F94-8406-779D512D3BAE}"/>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721AB1-88E9-4405-B292-A9C76EA73FBF}"/>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B56AB4-F04C-4DB2-A7C5-C6F4DBF34EDC}"/>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5" name="Footer Placeholder 4">
            <a:extLst>
              <a:ext uri="{FF2B5EF4-FFF2-40B4-BE49-F238E27FC236}">
                <a16:creationId xmlns:a16="http://schemas.microsoft.com/office/drawing/2014/main" id="{24EC7C5F-0E60-4E9D-8E6C-9FC0C18DA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D001C1-F858-4D1D-A466-2824B5D3831F}"/>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921669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62887-FB14-466A-BC0E-A46136BCC7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63CAF4-C503-44D6-9876-E09506B13F0A}"/>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25105B-6A00-4783-9E78-4DB2FB050DFD}"/>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FF9B48-CDDA-470A-B6A9-F7747773D73D}"/>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6" name="Footer Placeholder 5">
            <a:extLst>
              <a:ext uri="{FF2B5EF4-FFF2-40B4-BE49-F238E27FC236}">
                <a16:creationId xmlns:a16="http://schemas.microsoft.com/office/drawing/2014/main" id="{09789A4D-6132-4434-8753-9A1A1805DC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1EDFBC-B714-46FC-9D90-F1DA4A62B94E}"/>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72632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67BC1-6627-488F-A221-941C1568064D}"/>
              </a:ext>
            </a:extLst>
          </p:cNvPr>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0E3CE0-63E5-436C-BFDB-16E0E68753C1}"/>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A4BF72C8-F7B0-4632-A8A6-3EC5D2AC4FD4}"/>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6BE1CFF-2E94-4A5F-A490-23BFBAF3F0B9}"/>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833BBE74-BA56-4A7F-8521-FDE3B49C3E53}"/>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24BD26-786E-4B79-9D08-8008A036D27B}"/>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8" name="Footer Placeholder 7">
            <a:extLst>
              <a:ext uri="{FF2B5EF4-FFF2-40B4-BE49-F238E27FC236}">
                <a16:creationId xmlns:a16="http://schemas.microsoft.com/office/drawing/2014/main" id="{6891F24F-08B0-46EF-88BA-F8647661C3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875B96-FAC2-4C62-A6C7-73EE7408B95F}"/>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0809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11B1-1A8D-41AA-83D7-144C49A0C5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107CEA-0906-415F-94B0-FA619388611C}"/>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4" name="Footer Placeholder 3">
            <a:extLst>
              <a:ext uri="{FF2B5EF4-FFF2-40B4-BE49-F238E27FC236}">
                <a16:creationId xmlns:a16="http://schemas.microsoft.com/office/drawing/2014/main" id="{19375394-69DD-4242-B43F-FF024490550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2BDCB1-53C4-446E-9A8B-49527FD435C0}"/>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64670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AC6DA2-7B26-4911-ACE4-561AAAC2B5F0}"/>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3" name="Footer Placeholder 2">
            <a:extLst>
              <a:ext uri="{FF2B5EF4-FFF2-40B4-BE49-F238E27FC236}">
                <a16:creationId xmlns:a16="http://schemas.microsoft.com/office/drawing/2014/main" id="{DC5DB43F-A3B8-4958-AD84-5CD0F1F103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4B39FF-C173-4056-8B2A-9DB461E24FD5}"/>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40343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E5A72-B7D9-4924-B054-02BD8C21ED1F}"/>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D65B2C-F15B-49D2-946F-3435D40BC5AA}"/>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EC83AE-43BA-40DD-A9D4-3C85BEC56B5F}"/>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91F5ED53-EC5F-4AD0-903E-2E160B6DCE18}"/>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6" name="Footer Placeholder 5">
            <a:extLst>
              <a:ext uri="{FF2B5EF4-FFF2-40B4-BE49-F238E27FC236}">
                <a16:creationId xmlns:a16="http://schemas.microsoft.com/office/drawing/2014/main" id="{0FE7D779-D8C9-41CD-B42B-3C6F2F8EBC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B90ED5-DC24-4720-BAE5-CDE915C5F475}"/>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20575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1F00B-EE8A-4B08-8604-09E190214E76}"/>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F84DA2-2C20-47E6-A10A-9ADECFB8DE92}"/>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a:p>
        </p:txBody>
      </p:sp>
      <p:sp>
        <p:nvSpPr>
          <p:cNvPr id="4" name="Text Placeholder 3">
            <a:extLst>
              <a:ext uri="{FF2B5EF4-FFF2-40B4-BE49-F238E27FC236}">
                <a16:creationId xmlns:a16="http://schemas.microsoft.com/office/drawing/2014/main" id="{01A18C61-FF94-48C6-BD20-78F061A323B3}"/>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12AA8B99-1E5B-4FC2-836E-01B9C1FB21DA}"/>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6" name="Footer Placeholder 5">
            <a:extLst>
              <a:ext uri="{FF2B5EF4-FFF2-40B4-BE49-F238E27FC236}">
                <a16:creationId xmlns:a16="http://schemas.microsoft.com/office/drawing/2014/main" id="{F1553C40-BA13-48BF-81FB-3979DBB966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EBB66E-BCAB-403F-BF18-FEDFDA52CFF3}"/>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453726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9D4DF-0169-4CC1-919E-C9BE110E6B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581FD4-D2C1-4D0F-9988-B5F7438008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258C4-CE61-4C11-B777-A983CFD1AAD0}"/>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5" name="Footer Placeholder 4">
            <a:extLst>
              <a:ext uri="{FF2B5EF4-FFF2-40B4-BE49-F238E27FC236}">
                <a16:creationId xmlns:a16="http://schemas.microsoft.com/office/drawing/2014/main" id="{242A23D9-CF90-4669-9EAA-5FC0D1A9B3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5F53E1-69CB-45B2-B498-41D2DE7ED43B}"/>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57997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446A02-E966-4413-892E-C9DDDF18629F}"/>
              </a:ext>
            </a:extLst>
          </p:cNvPr>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F31785-E562-430A-812D-70513E966EAA}"/>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79CC03-04F5-4422-BE40-688D6785BE1B}"/>
              </a:ext>
            </a:extLst>
          </p:cNvPr>
          <p:cNvSpPr>
            <a:spLocks noGrp="1"/>
          </p:cNvSpPr>
          <p:nvPr>
            <p:ph type="dt" sz="half" idx="10"/>
          </p:nvPr>
        </p:nvSpPr>
        <p:spPr/>
        <p:txBody>
          <a:bodyPr/>
          <a:lstStyle/>
          <a:p>
            <a:fld id="{1D8BD707-D9CF-40AE-B4C6-C98DA3205C09}" type="datetimeFigureOut">
              <a:rPr lang="en-US" smtClean="0"/>
              <a:t>6/5/2026</a:t>
            </a:fld>
            <a:endParaRPr lang="en-US"/>
          </a:p>
        </p:txBody>
      </p:sp>
      <p:sp>
        <p:nvSpPr>
          <p:cNvPr id="5" name="Footer Placeholder 4">
            <a:extLst>
              <a:ext uri="{FF2B5EF4-FFF2-40B4-BE49-F238E27FC236}">
                <a16:creationId xmlns:a16="http://schemas.microsoft.com/office/drawing/2014/main" id="{2FB7AEF6-F353-4B30-950E-D9370206B9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2BA0A1-EACD-4351-A4CF-3942F0FC7FAE}"/>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69625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4250309" y="1400048"/>
            <a:ext cx="9787381" cy="5158105"/>
          </a:xfrm>
          <a:prstGeom prst="rect">
            <a:avLst/>
          </a:prstGeom>
        </p:spPr>
        <p:txBody>
          <a:bodyPr wrap="square" lIns="0" tIns="0" rIns="0" bIns="0">
            <a:spAutoFit/>
          </a:bodyPr>
          <a:lstStyle>
            <a:lvl1pPr>
              <a:defRPr sz="7000" b="0" i="0">
                <a:solidFill>
                  <a:schemeClr val="bg1"/>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86748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1D3AD4-7B9F-4721-B9B5-D45828636D39}"/>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C6FC3C-152A-4591-B3B7-0F8E05A9D002}"/>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3A695B-CAB1-41B8-80C2-7C6E9C7FC601}"/>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t>6/5/2026</a:t>
            </a:fld>
            <a:endParaRPr lang="en-US"/>
          </a:p>
        </p:txBody>
      </p:sp>
      <p:sp>
        <p:nvSpPr>
          <p:cNvPr id="5" name="Footer Placeholder 4">
            <a:extLst>
              <a:ext uri="{FF2B5EF4-FFF2-40B4-BE49-F238E27FC236}">
                <a16:creationId xmlns:a16="http://schemas.microsoft.com/office/drawing/2014/main" id="{B26D1131-F58F-489D-9614-B7A0C96B83D7}"/>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047E0E-7E42-4314-9E10-6DD161DBCC14}"/>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1168702422"/>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F172A"/>
        </a:solidFill>
        <a:effectLst/>
      </p:bgPr>
    </p:bg>
    <p:spTree>
      <p:nvGrpSpPr>
        <p:cNvPr id="1" name=""/>
        <p:cNvGrpSpPr/>
        <p:nvPr/>
      </p:nvGrpSpPr>
      <p:grpSpPr>
        <a:xfrm>
          <a:off x="0" y="0"/>
          <a:ext cx="0" cy="0"/>
          <a:chOff x="0" y="0"/>
          <a:chExt cx="0" cy="0"/>
        </a:xfrm>
      </p:grpSpPr>
      <p:sp>
        <p:nvSpPr>
          <p:cNvPr id="7" name="object 7"/>
          <p:cNvSpPr txBox="1"/>
          <p:nvPr/>
        </p:nvSpPr>
        <p:spPr>
          <a:xfrm>
            <a:off x="5975215" y="8724900"/>
            <a:ext cx="6337570" cy="504625"/>
          </a:xfrm>
          <a:prstGeom prst="rect">
            <a:avLst/>
          </a:prstGeom>
        </p:spPr>
        <p:txBody>
          <a:bodyPr vert="horz" wrap="square" lIns="0" tIns="12065" rIns="0" bIns="0" rtlCol="0">
            <a:spAutoFit/>
          </a:bodyPr>
          <a:lstStyle/>
          <a:p>
            <a:pPr marL="12700" algn="ctr">
              <a:lnSpc>
                <a:spcPct val="100000"/>
              </a:lnSpc>
              <a:spcBef>
                <a:spcPts val="95"/>
              </a:spcBef>
            </a:pPr>
            <a:r>
              <a:rPr sz="3200" dirty="0">
                <a:solidFill>
                  <a:schemeClr val="accent1">
                    <a:lumMod val="20000"/>
                    <a:lumOff val="80000"/>
                  </a:schemeClr>
                </a:solidFill>
                <a:latin typeface="Tahoma"/>
                <a:cs typeface="Tahoma"/>
              </a:rPr>
              <a:t>Presented</a:t>
            </a:r>
            <a:r>
              <a:rPr sz="3200" spc="-100" dirty="0">
                <a:solidFill>
                  <a:schemeClr val="accent1">
                    <a:lumMod val="20000"/>
                    <a:lumOff val="80000"/>
                  </a:schemeClr>
                </a:solidFill>
                <a:latin typeface="Tahoma"/>
                <a:cs typeface="Tahoma"/>
              </a:rPr>
              <a:t> </a:t>
            </a:r>
            <a:r>
              <a:rPr sz="3200" spc="-40" dirty="0">
                <a:solidFill>
                  <a:schemeClr val="accent1">
                    <a:lumMod val="20000"/>
                    <a:lumOff val="80000"/>
                  </a:schemeClr>
                </a:solidFill>
                <a:latin typeface="Tahoma"/>
                <a:cs typeface="Tahoma"/>
              </a:rPr>
              <a:t>by:</a:t>
            </a:r>
            <a:r>
              <a:rPr sz="3200" spc="-95" dirty="0">
                <a:solidFill>
                  <a:schemeClr val="accent1">
                    <a:lumMod val="20000"/>
                    <a:lumOff val="80000"/>
                  </a:schemeClr>
                </a:solidFill>
                <a:latin typeface="Tahoma"/>
                <a:cs typeface="Tahoma"/>
              </a:rPr>
              <a:t> </a:t>
            </a:r>
            <a:r>
              <a:rPr lang="en-US" sz="3200" spc="-95" dirty="0">
                <a:solidFill>
                  <a:schemeClr val="accent1">
                    <a:lumMod val="20000"/>
                    <a:lumOff val="80000"/>
                  </a:schemeClr>
                </a:solidFill>
                <a:latin typeface="Tahoma"/>
                <a:cs typeface="Tahoma"/>
              </a:rPr>
              <a:t>Himadree</a:t>
            </a:r>
            <a:endParaRPr sz="3200" dirty="0">
              <a:solidFill>
                <a:schemeClr val="accent1">
                  <a:lumMod val="20000"/>
                  <a:lumOff val="80000"/>
                </a:schemeClr>
              </a:solidFill>
              <a:latin typeface="Tahoma"/>
              <a:cs typeface="Tahoma"/>
            </a:endParaRPr>
          </a:p>
        </p:txBody>
      </p:sp>
      <p:pic>
        <p:nvPicPr>
          <p:cNvPr id="10" name="Picture 9">
            <a:extLst>
              <a:ext uri="{FF2B5EF4-FFF2-40B4-BE49-F238E27FC236}">
                <a16:creationId xmlns:a16="http://schemas.microsoft.com/office/drawing/2014/main" id="{754F311B-89A0-45A2-9B82-201155AA97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3000" y="3722091"/>
            <a:ext cx="1295400" cy="1295400"/>
          </a:xfrm>
          <a:prstGeom prst="rect">
            <a:avLst/>
          </a:prstGeom>
        </p:spPr>
      </p:pic>
      <p:sp>
        <p:nvSpPr>
          <p:cNvPr id="13" name="TextBox 12">
            <a:extLst>
              <a:ext uri="{FF2B5EF4-FFF2-40B4-BE49-F238E27FC236}">
                <a16:creationId xmlns:a16="http://schemas.microsoft.com/office/drawing/2014/main" id="{0F9A1561-2153-49BF-BA1D-793E37389B0A}"/>
              </a:ext>
            </a:extLst>
          </p:cNvPr>
          <p:cNvSpPr txBox="1"/>
          <p:nvPr/>
        </p:nvSpPr>
        <p:spPr>
          <a:xfrm>
            <a:off x="1409700" y="3646516"/>
            <a:ext cx="17221200" cy="1446550"/>
          </a:xfrm>
          <a:prstGeom prst="rect">
            <a:avLst/>
          </a:prstGeom>
          <a:noFill/>
        </p:spPr>
        <p:txBody>
          <a:bodyPr wrap="square" rtlCol="0">
            <a:spAutoFit/>
          </a:bodyPr>
          <a:lstStyle/>
          <a:p>
            <a:pPr algn="ctr"/>
            <a:r>
              <a:rPr lang="en-GB" sz="8800" dirty="0">
                <a:solidFill>
                  <a:schemeClr val="bg1">
                    <a:lumMod val="95000"/>
                  </a:schemeClr>
                </a:solidFill>
                <a:latin typeface="Arial" panose="020B0604020202020204" pitchFamily="34" charset="0"/>
                <a:ea typeface="Cascadia Mono" panose="020B0609020000020004" pitchFamily="49" charset="0"/>
                <a:cs typeface="Arial" panose="020B0604020202020204" pitchFamily="34" charset="0"/>
              </a:rPr>
              <a:t>BMW Global </a:t>
            </a:r>
            <a:r>
              <a:rPr lang="en-GB" sz="8800" dirty="0">
                <a:solidFill>
                  <a:srgbClr val="00B0F0"/>
                </a:solidFill>
                <a:latin typeface="Arial" panose="020B0604020202020204" pitchFamily="34" charset="0"/>
                <a:ea typeface="Cascadia Mono" panose="020B0609020000020004" pitchFamily="49" charset="0"/>
                <a:cs typeface="Arial" panose="020B0604020202020204" pitchFamily="34" charset="0"/>
              </a:rPr>
              <a:t>Sales Analysis</a:t>
            </a:r>
            <a:endParaRPr lang="en-IN" sz="8800" dirty="0">
              <a:solidFill>
                <a:srgbClr val="00B0F0"/>
              </a:solidFill>
              <a:latin typeface="Arial" panose="020B0604020202020204" pitchFamily="34" charset="0"/>
              <a:ea typeface="Cascadia Mono" panose="020B0609020000020004" pitchFamily="49" charset="0"/>
              <a:cs typeface="Arial" panose="020B0604020202020204" pitchFamily="34" charset="0"/>
            </a:endParaRPr>
          </a:p>
        </p:txBody>
      </p:sp>
      <p:sp>
        <p:nvSpPr>
          <p:cNvPr id="14" name="TextBox 13">
            <a:extLst>
              <a:ext uri="{FF2B5EF4-FFF2-40B4-BE49-F238E27FC236}">
                <a16:creationId xmlns:a16="http://schemas.microsoft.com/office/drawing/2014/main" id="{FEB8E2A1-F960-4685-B2CF-5C59FCA08363}"/>
              </a:ext>
            </a:extLst>
          </p:cNvPr>
          <p:cNvSpPr txBox="1"/>
          <p:nvPr/>
        </p:nvSpPr>
        <p:spPr>
          <a:xfrm>
            <a:off x="2895600" y="5627700"/>
            <a:ext cx="12496800" cy="830997"/>
          </a:xfrm>
          <a:prstGeom prst="rect">
            <a:avLst/>
          </a:prstGeom>
          <a:noFill/>
        </p:spPr>
        <p:txBody>
          <a:bodyPr wrap="square" rtlCol="0">
            <a:spAutoFit/>
          </a:bodyPr>
          <a:lstStyle/>
          <a:p>
            <a:pPr algn="ctr"/>
            <a:r>
              <a:rPr lang="en-GB" sz="4800" dirty="0">
                <a:solidFill>
                  <a:schemeClr val="accent1">
                    <a:lumMod val="20000"/>
                    <a:lumOff val="80000"/>
                  </a:schemeClr>
                </a:solidFill>
              </a:rPr>
              <a:t>Data SQL Project (2010-2024) </a:t>
            </a:r>
            <a:endParaRPr lang="en-IN" sz="4800" dirty="0">
              <a:solidFill>
                <a:schemeClr val="accent1">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743199" y="2628900"/>
            <a:ext cx="12801600" cy="1027845"/>
          </a:xfrm>
          <a:prstGeom prst="rect">
            <a:avLst/>
          </a:prstGeom>
        </p:spPr>
        <p:txBody>
          <a:bodyPr vert="horz" wrap="square" lIns="0" tIns="12065" rIns="0" bIns="0" rtlCol="0">
            <a:spAutoFit/>
          </a:bodyPr>
          <a:lstStyle/>
          <a:p>
            <a:pPr marL="12700" algn="ctr">
              <a:lnSpc>
                <a:spcPct val="100000"/>
              </a:lnSpc>
              <a:spcBef>
                <a:spcPts val="95"/>
              </a:spcBef>
            </a:pPr>
            <a:r>
              <a:rPr lang="en-GB" b="1" spc="145" dirty="0">
                <a:solidFill>
                  <a:schemeClr val="tx2">
                    <a:lumMod val="20000"/>
                    <a:lumOff val="80000"/>
                  </a:schemeClr>
                </a:solidFill>
              </a:rPr>
              <a:t>About </a:t>
            </a:r>
            <a:r>
              <a:rPr lang="en-GB" b="1" spc="145" dirty="0">
                <a:solidFill>
                  <a:srgbClr val="00AAE6"/>
                </a:solidFill>
              </a:rPr>
              <a:t>BMW</a:t>
            </a:r>
            <a:endParaRPr spc="195" dirty="0">
              <a:solidFill>
                <a:srgbClr val="00AAE6"/>
              </a:solidFill>
              <a:latin typeface="Calibri" panose="020F0502020204030204" pitchFamily="34" charset="0"/>
              <a:ea typeface="Calibri" panose="020F0502020204030204" pitchFamily="34" charset="0"/>
              <a:cs typeface="Calibri" panose="020F0502020204030204" pitchFamily="34" charset="0"/>
            </a:endParaRPr>
          </a:p>
        </p:txBody>
      </p:sp>
      <p:sp>
        <p:nvSpPr>
          <p:cNvPr id="4" name="object 4"/>
          <p:cNvSpPr txBox="1"/>
          <p:nvPr/>
        </p:nvSpPr>
        <p:spPr>
          <a:xfrm>
            <a:off x="1996915" y="4991100"/>
            <a:ext cx="14294168" cy="1735732"/>
          </a:xfrm>
          <a:prstGeom prst="rect">
            <a:avLst/>
          </a:prstGeom>
        </p:spPr>
        <p:txBody>
          <a:bodyPr vert="horz" wrap="square" lIns="0" tIns="12065" rIns="0" bIns="0" rtlCol="0">
            <a:spAutoFit/>
          </a:bodyPr>
          <a:lstStyle/>
          <a:p>
            <a:pPr marL="12700" marR="5080" algn="ctr">
              <a:lnSpc>
                <a:spcPct val="100000"/>
              </a:lnSpc>
              <a:spcBef>
                <a:spcPts val="95"/>
              </a:spcBef>
            </a:pPr>
            <a:r>
              <a:rPr lang="en-GB" sz="2800" dirty="0">
                <a:solidFill>
                  <a:schemeClr val="accent1">
                    <a:lumMod val="20000"/>
                    <a:lumOff val="80000"/>
                  </a:schemeClr>
                </a:solidFill>
              </a:rPr>
              <a:t>BMW (</a:t>
            </a:r>
            <a:r>
              <a:rPr lang="en-GB" sz="2800" dirty="0" err="1">
                <a:solidFill>
                  <a:schemeClr val="accent1">
                    <a:lumMod val="20000"/>
                    <a:lumOff val="80000"/>
                  </a:schemeClr>
                </a:solidFill>
              </a:rPr>
              <a:t>Bayerische</a:t>
            </a:r>
            <a:r>
              <a:rPr lang="en-GB" sz="2800" dirty="0">
                <a:solidFill>
                  <a:schemeClr val="accent1">
                    <a:lumMod val="20000"/>
                    <a:lumOff val="80000"/>
                  </a:schemeClr>
                </a:solidFill>
              </a:rPr>
              <a:t> </a:t>
            </a:r>
            <a:r>
              <a:rPr lang="en-GB" sz="2800" dirty="0" err="1">
                <a:solidFill>
                  <a:schemeClr val="accent1">
                    <a:lumMod val="20000"/>
                    <a:lumOff val="80000"/>
                  </a:schemeClr>
                </a:solidFill>
              </a:rPr>
              <a:t>Motoren</a:t>
            </a:r>
            <a:r>
              <a:rPr lang="en-GB" sz="2800" dirty="0">
                <a:solidFill>
                  <a:schemeClr val="accent1">
                    <a:lumMod val="20000"/>
                    <a:lumOff val="80000"/>
                  </a:schemeClr>
                </a:solidFill>
              </a:rPr>
              <a:t> Werke AG) is a globally recognized leader in the premium automotive sector, renowned for its engineering excellence, luxury, and performance. Operating on a vast international scale, the company continually adapts to shifting global markets, fluctuating economic conditions, and the rapid transition toward sustainable, electrified mobility</a:t>
            </a:r>
            <a:endParaRPr sz="2800" dirty="0">
              <a:solidFill>
                <a:schemeClr val="accent1">
                  <a:lumMod val="20000"/>
                  <a:lumOff val="80000"/>
                </a:schemeClr>
              </a:solidFill>
              <a:latin typeface="Calibri"/>
              <a:cs typeface="Calibri"/>
            </a:endParaRPr>
          </a:p>
        </p:txBody>
      </p:sp>
      <p:pic>
        <p:nvPicPr>
          <p:cNvPr id="32" name="Picture 31">
            <a:extLst>
              <a:ext uri="{FF2B5EF4-FFF2-40B4-BE49-F238E27FC236}">
                <a16:creationId xmlns:a16="http://schemas.microsoft.com/office/drawing/2014/main" id="{ED7184B9-7FEC-46FE-A1A2-5BED4A55B7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743199" y="3222368"/>
            <a:ext cx="12801600" cy="1027845"/>
          </a:xfrm>
          <a:prstGeom prst="rect">
            <a:avLst/>
          </a:prstGeom>
        </p:spPr>
        <p:txBody>
          <a:bodyPr vert="horz" wrap="square" lIns="0" tIns="12065" rIns="0" bIns="0" rtlCol="0">
            <a:spAutoFit/>
          </a:bodyPr>
          <a:lstStyle/>
          <a:p>
            <a:pPr marL="12700" algn="ctr">
              <a:lnSpc>
                <a:spcPct val="100000"/>
              </a:lnSpc>
              <a:spcBef>
                <a:spcPts val="95"/>
              </a:spcBef>
            </a:pPr>
            <a:r>
              <a:rPr b="1" spc="145" dirty="0">
                <a:solidFill>
                  <a:schemeClr val="tx2">
                    <a:lumMod val="20000"/>
                    <a:lumOff val="80000"/>
                  </a:schemeClr>
                </a:solidFill>
              </a:rPr>
              <a:t>Project</a:t>
            </a:r>
            <a:r>
              <a:rPr spc="500" dirty="0">
                <a:solidFill>
                  <a:schemeClr val="tx2">
                    <a:lumMod val="20000"/>
                    <a:lumOff val="80000"/>
                  </a:schemeClr>
                </a:solidFill>
              </a:rPr>
              <a:t> </a:t>
            </a:r>
            <a:r>
              <a:rPr spc="195" dirty="0">
                <a:solidFill>
                  <a:srgbClr val="00AAE6"/>
                </a:solidFill>
                <a:latin typeface="Calibri" panose="020F0502020204030204" pitchFamily="34" charset="0"/>
                <a:ea typeface="Calibri" panose="020F0502020204030204" pitchFamily="34" charset="0"/>
                <a:cs typeface="Calibri" panose="020F0502020204030204" pitchFamily="34" charset="0"/>
              </a:rPr>
              <a:t>Overview</a:t>
            </a:r>
          </a:p>
        </p:txBody>
      </p:sp>
      <p:sp>
        <p:nvSpPr>
          <p:cNvPr id="4" name="object 4"/>
          <p:cNvSpPr txBox="1"/>
          <p:nvPr/>
        </p:nvSpPr>
        <p:spPr>
          <a:xfrm>
            <a:off x="2546032" y="5143500"/>
            <a:ext cx="13195935" cy="1735732"/>
          </a:xfrm>
          <a:prstGeom prst="rect">
            <a:avLst/>
          </a:prstGeom>
        </p:spPr>
        <p:txBody>
          <a:bodyPr vert="horz" wrap="square" lIns="0" tIns="12065" rIns="0" bIns="0" rtlCol="0">
            <a:spAutoFit/>
          </a:bodyPr>
          <a:lstStyle/>
          <a:p>
            <a:pPr marL="12700" marR="5080" algn="ctr">
              <a:lnSpc>
                <a:spcPct val="100000"/>
              </a:lnSpc>
              <a:spcBef>
                <a:spcPts val="95"/>
              </a:spcBef>
            </a:pPr>
            <a:r>
              <a:rPr lang="en-GB" sz="2800" dirty="0">
                <a:solidFill>
                  <a:schemeClr val="accent1">
                    <a:lumMod val="20000"/>
                    <a:lumOff val="80000"/>
                  </a:schemeClr>
                </a:solidFill>
              </a:rPr>
              <a:t>This project is dedicated to a comprehensive analysis of global automotive sales data for BMW spanning from 2010 to 2024. By scrutinizing thousands of vehicle sales records, we explored various car models, fuel types, and transmission configurations to identify trends and factors that influence regional sales performance.</a:t>
            </a:r>
            <a:endParaRPr sz="2800" dirty="0">
              <a:solidFill>
                <a:schemeClr val="accent1">
                  <a:lumMod val="20000"/>
                  <a:lumOff val="80000"/>
                </a:schemeClr>
              </a:solidFill>
              <a:latin typeface="Calibri"/>
              <a:cs typeface="Calibri"/>
            </a:endParaRPr>
          </a:p>
        </p:txBody>
      </p:sp>
      <p:pic>
        <p:nvPicPr>
          <p:cNvPr id="32" name="Picture 31">
            <a:extLst>
              <a:ext uri="{FF2B5EF4-FFF2-40B4-BE49-F238E27FC236}">
                <a16:creationId xmlns:a16="http://schemas.microsoft.com/office/drawing/2014/main" id="{ED7184B9-7FEC-46FE-A1A2-5BED4A55B7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Tree>
    <p:extLst>
      <p:ext uri="{BB962C8B-B14F-4D97-AF65-F5344CB8AC3E}">
        <p14:creationId xmlns:p14="http://schemas.microsoft.com/office/powerpoint/2010/main" val="1665228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57300" y="2705100"/>
            <a:ext cx="15773400" cy="1027845"/>
          </a:xfrm>
          <a:prstGeom prst="rect">
            <a:avLst/>
          </a:prstGeom>
        </p:spPr>
        <p:txBody>
          <a:bodyPr vert="horz" wrap="square" lIns="0" tIns="12065" rIns="0" bIns="0" rtlCol="0">
            <a:spAutoFit/>
          </a:bodyPr>
          <a:lstStyle/>
          <a:p>
            <a:pPr marL="12700" algn="ctr">
              <a:lnSpc>
                <a:spcPct val="100000"/>
              </a:lnSpc>
              <a:spcBef>
                <a:spcPts val="95"/>
              </a:spcBef>
            </a:pPr>
            <a:r>
              <a:rPr spc="380" dirty="0">
                <a:solidFill>
                  <a:schemeClr val="tx2">
                    <a:lumMod val="20000"/>
                    <a:lumOff val="80000"/>
                  </a:schemeClr>
                </a:solidFill>
                <a:latin typeface="Calibri" panose="020F0502020204030204" pitchFamily="34" charset="0"/>
                <a:ea typeface="Calibri" panose="020F0502020204030204" pitchFamily="34" charset="0"/>
                <a:cs typeface="Calibri" panose="020F0502020204030204" pitchFamily="34" charset="0"/>
              </a:rPr>
              <a:t>Business</a:t>
            </a:r>
            <a:r>
              <a:rPr spc="490" dirty="0">
                <a:solidFill>
                  <a:schemeClr val="tx2">
                    <a:lumMod val="20000"/>
                    <a:lumOff val="80000"/>
                  </a:schemeClr>
                </a:solidFill>
                <a:latin typeface="Calibri" panose="020F0502020204030204" pitchFamily="34" charset="0"/>
                <a:ea typeface="Calibri" panose="020F0502020204030204" pitchFamily="34" charset="0"/>
                <a:cs typeface="Calibri" panose="020F0502020204030204" pitchFamily="34" charset="0"/>
              </a:rPr>
              <a:t> </a:t>
            </a:r>
            <a:r>
              <a:rPr spc="300" dirty="0">
                <a:solidFill>
                  <a:srgbClr val="00AAE6"/>
                </a:solidFill>
                <a:latin typeface="Calibri" panose="020F0502020204030204" pitchFamily="34" charset="0"/>
                <a:ea typeface="Calibri" panose="020F0502020204030204" pitchFamily="34" charset="0"/>
                <a:cs typeface="Calibri" panose="020F0502020204030204" pitchFamily="34" charset="0"/>
              </a:rPr>
              <a:t>Challenge</a:t>
            </a:r>
          </a:p>
        </p:txBody>
      </p:sp>
      <p:sp>
        <p:nvSpPr>
          <p:cNvPr id="4" name="object 4"/>
          <p:cNvSpPr txBox="1"/>
          <p:nvPr/>
        </p:nvSpPr>
        <p:spPr>
          <a:xfrm>
            <a:off x="2784729" y="4354524"/>
            <a:ext cx="13101955" cy="3028393"/>
          </a:xfrm>
          <a:prstGeom prst="rect">
            <a:avLst/>
          </a:prstGeom>
        </p:spPr>
        <p:txBody>
          <a:bodyPr vert="horz" wrap="square" lIns="0" tIns="12065" rIns="0" bIns="0" rtlCol="0">
            <a:spAutoFit/>
          </a:bodyPr>
          <a:lstStyle/>
          <a:p>
            <a:pPr marL="12700" marR="5080" algn="just">
              <a:lnSpc>
                <a:spcPct val="100000"/>
              </a:lnSpc>
              <a:spcBef>
                <a:spcPts val="95"/>
              </a:spcBef>
            </a:pPr>
            <a:r>
              <a:rPr lang="en-GB" sz="2800" dirty="0">
                <a:solidFill>
                  <a:schemeClr val="tx2">
                    <a:lumMod val="20000"/>
                    <a:lumOff val="80000"/>
                  </a:schemeClr>
                </a:solidFill>
              </a:rPr>
              <a:t>BMW is seeking to optimize its global sales strategies and regional market targeting across its key international markets. The objective is to delve deep into 14 years of historical sales data to identify which vehicle models, fuel types (specifically the emerging Electric Vehicle sector), and transmission configurations are yielding the highest profitability and volume. By thoroughly </a:t>
            </a:r>
            <a:r>
              <a:rPr lang="en-GB" sz="2800" dirty="0" err="1">
                <a:solidFill>
                  <a:schemeClr val="tx2">
                    <a:lumMod val="20000"/>
                    <a:lumOff val="80000"/>
                  </a:schemeClr>
                </a:solidFill>
              </a:rPr>
              <a:t>analyzing</a:t>
            </a:r>
            <a:r>
              <a:rPr lang="en-GB" sz="2800" dirty="0">
                <a:solidFill>
                  <a:schemeClr val="tx2">
                    <a:lumMod val="20000"/>
                    <a:lumOff val="80000"/>
                  </a:schemeClr>
                </a:solidFill>
              </a:rPr>
              <a:t> long-term automotive sales trends, BMW aims to develop more refined business strategies to tailor regional marketing approaches, optimize global manufacturing, and drive significant growth.</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400800" y="4115655"/>
            <a:ext cx="7250430" cy="1027845"/>
          </a:xfrm>
          <a:prstGeom prst="rect">
            <a:avLst/>
          </a:prstGeom>
        </p:spPr>
        <p:txBody>
          <a:bodyPr vert="horz" wrap="square" lIns="0" tIns="12065" rIns="0" bIns="0" rtlCol="0">
            <a:spAutoFit/>
          </a:bodyPr>
          <a:lstStyle/>
          <a:p>
            <a:pPr marL="12700">
              <a:lnSpc>
                <a:spcPct val="100000"/>
              </a:lnSpc>
              <a:spcBef>
                <a:spcPts val="95"/>
              </a:spcBef>
            </a:pPr>
            <a:r>
              <a:rPr spc="400" dirty="0">
                <a:solidFill>
                  <a:schemeClr val="tx2">
                    <a:lumMod val="20000"/>
                    <a:lumOff val="80000"/>
                  </a:schemeClr>
                </a:solidFill>
              </a:rPr>
              <a:t>AD-</a:t>
            </a:r>
            <a:r>
              <a:rPr spc="285" dirty="0">
                <a:solidFill>
                  <a:schemeClr val="tx2">
                    <a:lumMod val="20000"/>
                    <a:lumOff val="80000"/>
                  </a:schemeClr>
                </a:solidFill>
              </a:rPr>
              <a:t>HOC</a:t>
            </a:r>
            <a:r>
              <a:rPr spc="540" dirty="0">
                <a:solidFill>
                  <a:schemeClr val="tx2">
                    <a:lumMod val="20000"/>
                    <a:lumOff val="80000"/>
                  </a:schemeClr>
                </a:solidFill>
              </a:rPr>
              <a:t> </a:t>
            </a:r>
            <a:r>
              <a:rPr spc="395" dirty="0">
                <a:solidFill>
                  <a:srgbClr val="00AAE6"/>
                </a:solidFill>
              </a:rPr>
              <a:t>Requests</a:t>
            </a:r>
          </a:p>
        </p:txBody>
      </p:sp>
      <p:pic>
        <p:nvPicPr>
          <p:cNvPr id="4" name="Picture 3">
            <a:extLst>
              <a:ext uri="{FF2B5EF4-FFF2-40B4-BE49-F238E27FC236}">
                <a16:creationId xmlns:a16="http://schemas.microsoft.com/office/drawing/2014/main" id="{18E42D0D-86FE-40E7-B74D-CA87426B13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1600" y="4262797"/>
            <a:ext cx="880703" cy="8807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IN" sz="4400" b="1" dirty="0">
                <a:solidFill>
                  <a:srgbClr val="00B0F0"/>
                </a:solidFill>
              </a:rPr>
              <a:t>Sales Volume by Model</a:t>
            </a:r>
            <a:endParaRPr lang="en-IN" sz="4400" b="1" spc="300" dirty="0">
              <a:solidFill>
                <a:srgbClr val="00B0F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  </a:t>
            </a:r>
            <a:r>
              <a:rPr lang="en-GB" sz="2800" dirty="0">
                <a:solidFill>
                  <a:srgbClr val="00AAE6"/>
                </a:solidFill>
              </a:rPr>
              <a:t> </a:t>
            </a:r>
            <a:r>
              <a:rPr lang="en-GB" sz="2800" dirty="0">
                <a:solidFill>
                  <a:schemeClr val="tx2">
                    <a:lumMod val="20000"/>
                    <a:lumOff val="80000"/>
                  </a:schemeClr>
                </a:solidFill>
              </a:rPr>
              <a:t>Top 5 Regions by Total Sales</a:t>
            </a:r>
            <a:r>
              <a:rPr lang="en-IN" sz="2800" dirty="0">
                <a:solidFill>
                  <a:schemeClr val="tx2">
                    <a:lumMod val="20000"/>
                    <a:lumOff val="80000"/>
                  </a:schemeClr>
                </a:solidFill>
              </a:rPr>
              <a:t>.</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pic>
        <p:nvPicPr>
          <p:cNvPr id="26" name="Picture 25">
            <a:extLst>
              <a:ext uri="{FF2B5EF4-FFF2-40B4-BE49-F238E27FC236}">
                <a16:creationId xmlns:a16="http://schemas.microsoft.com/office/drawing/2014/main" id="{3C9CB573-3BE9-4D83-8B3C-71E52CC9A6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55483" y="3214901"/>
            <a:ext cx="4257950" cy="5985815"/>
          </a:xfrm>
          <a:prstGeom prst="rect">
            <a:avLst/>
          </a:prstGeom>
        </p:spPr>
      </p:pic>
      <p:pic>
        <p:nvPicPr>
          <p:cNvPr id="30" name="Picture 29">
            <a:extLst>
              <a:ext uri="{FF2B5EF4-FFF2-40B4-BE49-F238E27FC236}">
                <a16:creationId xmlns:a16="http://schemas.microsoft.com/office/drawing/2014/main" id="{6CA4CC96-E4ED-4580-AC72-E01AF7F453C6}"/>
              </a:ext>
            </a:extLst>
          </p:cNvPr>
          <p:cNvPicPr>
            <a:picLocks noChangeAspect="1"/>
          </p:cNvPicPr>
          <p:nvPr/>
        </p:nvPicPr>
        <p:blipFill>
          <a:blip r:embed="rId4"/>
          <a:stretch>
            <a:fillRect/>
          </a:stretch>
        </p:blipFill>
        <p:spPr>
          <a:xfrm>
            <a:off x="990600" y="4014958"/>
            <a:ext cx="9919855" cy="4385700"/>
          </a:xfrm>
          <a:prstGeom prst="rect">
            <a:avLst/>
          </a:prstGeom>
        </p:spPr>
      </p:pic>
      <p:sp>
        <p:nvSpPr>
          <p:cNvPr id="31" name="object 14">
            <a:extLst>
              <a:ext uri="{FF2B5EF4-FFF2-40B4-BE49-F238E27FC236}">
                <a16:creationId xmlns:a16="http://schemas.microsoft.com/office/drawing/2014/main" id="{F767900A-B1C2-4BC0-B143-C6996808B5F2}"/>
              </a:ext>
            </a:extLst>
          </p:cNvPr>
          <p:cNvSpPr txBox="1"/>
          <p:nvPr/>
        </p:nvSpPr>
        <p:spPr>
          <a:xfrm>
            <a:off x="15109062" y="4491608"/>
            <a:ext cx="1161415" cy="422275"/>
          </a:xfrm>
          <a:prstGeom prst="rect">
            <a:avLst/>
          </a:prstGeom>
        </p:spPr>
        <p:txBody>
          <a:bodyPr vert="horz" wrap="square" lIns="0" tIns="13335" rIns="0" bIns="0" rtlCol="0">
            <a:spAutoFit/>
          </a:bodyPr>
          <a:lstStyle/>
          <a:p>
            <a:pPr marL="12700">
              <a:lnSpc>
                <a:spcPct val="100000"/>
              </a:lnSpc>
              <a:spcBef>
                <a:spcPts val="105"/>
              </a:spcBef>
            </a:pPr>
            <a:r>
              <a:rPr sz="2600" spc="-10" dirty="0">
                <a:latin typeface="Calibri"/>
                <a:cs typeface="Calibri"/>
              </a:rPr>
              <a:t>OUTPUT</a:t>
            </a:r>
            <a:endParaRPr sz="2600" dirty="0">
              <a:latin typeface="Calibri"/>
              <a:cs typeface="Calibri"/>
            </a:endParaRPr>
          </a:p>
        </p:txBody>
      </p:sp>
      <p:sp>
        <p:nvSpPr>
          <p:cNvPr id="32" name="object 14">
            <a:extLst>
              <a:ext uri="{FF2B5EF4-FFF2-40B4-BE49-F238E27FC236}">
                <a16:creationId xmlns:a16="http://schemas.microsoft.com/office/drawing/2014/main" id="{C308AC18-EA15-4EA4-A400-9B3CB28E043C}"/>
              </a:ext>
            </a:extLst>
          </p:cNvPr>
          <p:cNvSpPr txBox="1"/>
          <p:nvPr/>
        </p:nvSpPr>
        <p:spPr>
          <a:xfrm>
            <a:off x="13852033" y="2407860"/>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spTree>
    <p:extLst>
      <p:ext uri="{BB962C8B-B14F-4D97-AF65-F5344CB8AC3E}">
        <p14:creationId xmlns:p14="http://schemas.microsoft.com/office/powerpoint/2010/main" val="3893725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GB" sz="4400" b="1" dirty="0">
                <a:solidFill>
                  <a:srgbClr val="00B0F0"/>
                </a:solidFill>
              </a:rPr>
              <a:t>Top 5 Regions</a:t>
            </a:r>
            <a:endParaRPr lang="en-IN" sz="4400" b="1" spc="300" dirty="0">
              <a:solidFill>
                <a:srgbClr val="00B0F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  </a:t>
            </a:r>
            <a:r>
              <a:rPr lang="en-GB" sz="2800" dirty="0">
                <a:solidFill>
                  <a:srgbClr val="00AAE6"/>
                </a:solidFill>
              </a:rPr>
              <a:t> </a:t>
            </a:r>
            <a:r>
              <a:rPr lang="en-GB" sz="2800" dirty="0">
                <a:solidFill>
                  <a:schemeClr val="tx2">
                    <a:lumMod val="20000"/>
                    <a:lumOff val="80000"/>
                  </a:schemeClr>
                </a:solidFill>
              </a:rPr>
              <a:t>Top 5 Regions by Total Sales.</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pic>
        <p:nvPicPr>
          <p:cNvPr id="6" name="Picture 5">
            <a:extLst>
              <a:ext uri="{FF2B5EF4-FFF2-40B4-BE49-F238E27FC236}">
                <a16:creationId xmlns:a16="http://schemas.microsoft.com/office/drawing/2014/main" id="{3DC46D3C-360A-470C-AB19-505F9DAD7F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3173740"/>
            <a:ext cx="9753600" cy="4278420"/>
          </a:xfrm>
          <a:prstGeom prst="rect">
            <a:avLst/>
          </a:prstGeom>
        </p:spPr>
      </p:pic>
      <p:pic>
        <p:nvPicPr>
          <p:cNvPr id="8" name="Picture 7">
            <a:extLst>
              <a:ext uri="{FF2B5EF4-FFF2-40B4-BE49-F238E27FC236}">
                <a16:creationId xmlns:a16="http://schemas.microsoft.com/office/drawing/2014/main" id="{07927E08-6294-4BAB-A343-511C3AE1D780}"/>
              </a:ext>
            </a:extLst>
          </p:cNvPr>
          <p:cNvPicPr>
            <a:picLocks noChangeAspect="1"/>
          </p:cNvPicPr>
          <p:nvPr/>
        </p:nvPicPr>
        <p:blipFill rotWithShape="1">
          <a:blip r:embed="rId4">
            <a:extLst>
              <a:ext uri="{28A0092B-C50C-407E-A947-70E740481C1C}">
                <a14:useLocalDpi xmlns:a14="http://schemas.microsoft.com/office/drawing/2010/main" val="0"/>
              </a:ext>
            </a:extLst>
          </a:blip>
          <a:srcRect l="545" t="2438" r="3729" b="4243"/>
          <a:stretch/>
        </p:blipFill>
        <p:spPr>
          <a:xfrm>
            <a:off x="11353800" y="3173740"/>
            <a:ext cx="6461319" cy="4278420"/>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spTree>
    <p:extLst>
      <p:ext uri="{BB962C8B-B14F-4D97-AF65-F5344CB8AC3E}">
        <p14:creationId xmlns:p14="http://schemas.microsoft.com/office/powerpoint/2010/main" val="1257888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GB" sz="4400" b="1" dirty="0">
                <a:solidFill>
                  <a:srgbClr val="00B0F0"/>
                </a:solidFill>
              </a:rPr>
              <a:t>Average Price of Electric Vehicles</a:t>
            </a: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a:t>
            </a:r>
            <a:r>
              <a:rPr lang="en-GB" sz="2800" dirty="0">
                <a:solidFill>
                  <a:srgbClr val="00AAE6"/>
                </a:solidFill>
              </a:rPr>
              <a:t>   </a:t>
            </a:r>
            <a:r>
              <a:rPr lang="en-GB" sz="2800" dirty="0">
                <a:solidFill>
                  <a:schemeClr val="tx2">
                    <a:lumMod val="20000"/>
                    <a:lumOff val="80000"/>
                  </a:schemeClr>
                </a:solidFill>
              </a:rPr>
              <a:t>Average Price of Electric BMWs.</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pic>
        <p:nvPicPr>
          <p:cNvPr id="7" name="Picture 6">
            <a:extLst>
              <a:ext uri="{FF2B5EF4-FFF2-40B4-BE49-F238E27FC236}">
                <a16:creationId xmlns:a16="http://schemas.microsoft.com/office/drawing/2014/main" id="{B6D12A26-2D9D-476F-9901-9E3C7CF5F8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6800" y="4000500"/>
            <a:ext cx="4365526" cy="1828800"/>
          </a:xfrm>
          <a:prstGeom prst="rect">
            <a:avLst/>
          </a:prstGeom>
        </p:spPr>
      </p:pic>
      <p:pic>
        <p:nvPicPr>
          <p:cNvPr id="13" name="Picture 12">
            <a:extLst>
              <a:ext uri="{FF2B5EF4-FFF2-40B4-BE49-F238E27FC236}">
                <a16:creationId xmlns:a16="http://schemas.microsoft.com/office/drawing/2014/main" id="{33F7D431-117E-4FE5-85BA-856C1C1636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543300"/>
            <a:ext cx="10297740" cy="2709933"/>
          </a:xfrm>
          <a:prstGeom prst="rect">
            <a:avLst/>
          </a:prstGeom>
        </p:spPr>
      </p:pic>
    </p:spTree>
    <p:extLst>
      <p:ext uri="{BB962C8B-B14F-4D97-AF65-F5344CB8AC3E}">
        <p14:creationId xmlns:p14="http://schemas.microsoft.com/office/powerpoint/2010/main" val="4161628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GB" sz="4400" b="1" dirty="0">
                <a:solidFill>
                  <a:srgbClr val="00B0F0"/>
                </a:solidFill>
              </a:rPr>
              <a:t>Sales in a Specific Year</a:t>
            </a: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a:t>
            </a:r>
            <a:r>
              <a:rPr lang="en-GB" sz="2800" dirty="0">
                <a:solidFill>
                  <a:srgbClr val="00AAE6"/>
                </a:solidFill>
              </a:rPr>
              <a:t>   </a:t>
            </a:r>
            <a:r>
              <a:rPr lang="en-GB" sz="2800" dirty="0">
                <a:solidFill>
                  <a:schemeClr val="tx2">
                    <a:lumMod val="20000"/>
                    <a:lumOff val="80000"/>
                  </a:schemeClr>
                </a:solidFill>
              </a:rPr>
              <a:t>Total Sales and Average Price in 2017.</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pic>
        <p:nvPicPr>
          <p:cNvPr id="6" name="Picture 5">
            <a:extLst>
              <a:ext uri="{FF2B5EF4-FFF2-40B4-BE49-F238E27FC236}">
                <a16:creationId xmlns:a16="http://schemas.microsoft.com/office/drawing/2014/main" id="{9237D82E-9003-463A-A0BB-284F6F95AA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29533" y="4381500"/>
            <a:ext cx="5509849" cy="1524000"/>
          </a:xfrm>
          <a:prstGeom prst="rect">
            <a:avLst/>
          </a:prstGeom>
        </p:spPr>
      </p:pic>
      <p:pic>
        <p:nvPicPr>
          <p:cNvPr id="9" name="Picture 8">
            <a:extLst>
              <a:ext uri="{FF2B5EF4-FFF2-40B4-BE49-F238E27FC236}">
                <a16:creationId xmlns:a16="http://schemas.microsoft.com/office/drawing/2014/main" id="{2C7F8FB1-E45A-4569-86F1-9C2CAFF79B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3467052"/>
            <a:ext cx="9936321" cy="3352896"/>
          </a:xfrm>
          <a:prstGeom prst="rect">
            <a:avLst/>
          </a:prstGeom>
        </p:spPr>
      </p:pic>
    </p:spTree>
    <p:extLst>
      <p:ext uri="{BB962C8B-B14F-4D97-AF65-F5344CB8AC3E}">
        <p14:creationId xmlns:p14="http://schemas.microsoft.com/office/powerpoint/2010/main" val="3471814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IN" sz="4400" b="1" dirty="0">
                <a:solidFill>
                  <a:srgbClr val="00B0F0"/>
                </a:solidFill>
              </a:rPr>
              <a:t>High-Volume Models by Region</a:t>
            </a: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a:t>
            </a:r>
            <a:r>
              <a:rPr lang="en-GB" sz="2800" dirty="0">
                <a:solidFill>
                  <a:srgbClr val="00AAE6"/>
                </a:solidFill>
              </a:rPr>
              <a:t>   </a:t>
            </a:r>
            <a:r>
              <a:rPr lang="en-GB" sz="2800" dirty="0">
                <a:solidFill>
                  <a:schemeClr val="tx2">
                    <a:lumMod val="20000"/>
                    <a:lumOff val="80000"/>
                  </a:schemeClr>
                </a:solidFill>
              </a:rPr>
              <a:t>Best Selling BMW Model in Each Region.</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pic>
        <p:nvPicPr>
          <p:cNvPr id="7" name="Picture 6">
            <a:extLst>
              <a:ext uri="{FF2B5EF4-FFF2-40B4-BE49-F238E27FC236}">
                <a16:creationId xmlns:a16="http://schemas.microsoft.com/office/drawing/2014/main" id="{0017B276-D527-4D19-B0C4-7DF021C32C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2095500"/>
            <a:ext cx="5554154" cy="7896623"/>
          </a:xfrm>
          <a:prstGeom prst="rect">
            <a:avLst/>
          </a:prstGeom>
        </p:spPr>
      </p:pic>
      <p:pic>
        <p:nvPicPr>
          <p:cNvPr id="10" name="Picture 9">
            <a:extLst>
              <a:ext uri="{FF2B5EF4-FFF2-40B4-BE49-F238E27FC236}">
                <a16:creationId xmlns:a16="http://schemas.microsoft.com/office/drawing/2014/main" id="{1694DA19-E5AC-4748-B631-A934FD0ACA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1994" y="3956875"/>
            <a:ext cx="7402849" cy="3810000"/>
          </a:xfrm>
          <a:prstGeom prst="rect">
            <a:avLst/>
          </a:prstGeom>
        </p:spPr>
      </p:pic>
    </p:spTree>
    <p:extLst>
      <p:ext uri="{BB962C8B-B14F-4D97-AF65-F5344CB8AC3E}">
        <p14:creationId xmlns:p14="http://schemas.microsoft.com/office/powerpoint/2010/main" val="1501237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IN" sz="4400" b="1" dirty="0">
                <a:solidFill>
                  <a:srgbClr val="00B0F0"/>
                </a:solidFill>
              </a:rPr>
              <a:t>Sales Classification Distribution</a:t>
            </a: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a:t>
            </a:r>
            <a:r>
              <a:rPr lang="en-GB" sz="2800" dirty="0">
                <a:solidFill>
                  <a:srgbClr val="00AAE6"/>
                </a:solidFill>
              </a:rPr>
              <a:t>   </a:t>
            </a:r>
            <a:r>
              <a:rPr lang="en-GB" sz="2800" dirty="0">
                <a:solidFill>
                  <a:schemeClr val="tx2">
                    <a:lumMod val="20000"/>
                    <a:lumOff val="80000"/>
                  </a:schemeClr>
                </a:solidFill>
              </a:rPr>
              <a:t>High vs Low Sales Classification by Region.</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pic>
        <p:nvPicPr>
          <p:cNvPr id="6" name="Picture 5">
            <a:extLst>
              <a:ext uri="{FF2B5EF4-FFF2-40B4-BE49-F238E27FC236}">
                <a16:creationId xmlns:a16="http://schemas.microsoft.com/office/drawing/2014/main" id="{07F32754-BA49-4884-B024-621398312E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6503" y="2171700"/>
            <a:ext cx="7116984" cy="7871318"/>
          </a:xfrm>
          <a:prstGeom prst="rect">
            <a:avLst/>
          </a:prstGeom>
        </p:spPr>
      </p:pic>
      <p:pic>
        <p:nvPicPr>
          <p:cNvPr id="9" name="Picture 8">
            <a:extLst>
              <a:ext uri="{FF2B5EF4-FFF2-40B4-BE49-F238E27FC236}">
                <a16:creationId xmlns:a16="http://schemas.microsoft.com/office/drawing/2014/main" id="{7B95C2B2-774D-474C-9D11-F23F50C948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7000" y="3467100"/>
            <a:ext cx="7729979" cy="3657600"/>
          </a:xfrm>
          <a:prstGeom prst="rect">
            <a:avLst/>
          </a:prstGeom>
        </p:spPr>
      </p:pic>
    </p:spTree>
    <p:extLst>
      <p:ext uri="{BB962C8B-B14F-4D97-AF65-F5344CB8AC3E}">
        <p14:creationId xmlns:p14="http://schemas.microsoft.com/office/powerpoint/2010/main" val="72830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GB" sz="4400" b="1" dirty="0">
                <a:solidFill>
                  <a:srgbClr val="00B0F0"/>
                </a:solidFill>
              </a:rPr>
              <a:t>Price Difference between Transmission Types</a:t>
            </a: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a:t>
            </a:r>
            <a:r>
              <a:rPr lang="en-GB" sz="2800" dirty="0">
                <a:solidFill>
                  <a:srgbClr val="00AAE6"/>
                </a:solidFill>
              </a:rPr>
              <a:t>   </a:t>
            </a:r>
            <a:r>
              <a:rPr lang="en-GB" sz="2800" dirty="0">
                <a:solidFill>
                  <a:schemeClr val="tx2">
                    <a:lumMod val="20000"/>
                    <a:lumOff val="80000"/>
                  </a:schemeClr>
                </a:solidFill>
              </a:rPr>
              <a:t>Price Difference Between Automatic and Manual BMWs.</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pic>
        <p:nvPicPr>
          <p:cNvPr id="13" name="Picture 12">
            <a:extLst>
              <a:ext uri="{FF2B5EF4-FFF2-40B4-BE49-F238E27FC236}">
                <a16:creationId xmlns:a16="http://schemas.microsoft.com/office/drawing/2014/main" id="{97688C9A-5F71-4226-A946-8CA02BD66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40932" y="4457700"/>
            <a:ext cx="5580268" cy="2362200"/>
          </a:xfrm>
          <a:prstGeom prst="rect">
            <a:avLst/>
          </a:prstGeom>
        </p:spPr>
      </p:pic>
      <p:pic>
        <p:nvPicPr>
          <p:cNvPr id="15" name="Picture 14">
            <a:extLst>
              <a:ext uri="{FF2B5EF4-FFF2-40B4-BE49-F238E27FC236}">
                <a16:creationId xmlns:a16="http://schemas.microsoft.com/office/drawing/2014/main" id="{4B924582-B489-47F5-BD22-074436AE8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1200" y="2552700"/>
            <a:ext cx="6858000" cy="7070981"/>
          </a:xfrm>
          <a:prstGeom prst="rect">
            <a:avLst/>
          </a:prstGeom>
        </p:spPr>
      </p:pic>
    </p:spTree>
    <p:extLst>
      <p:ext uri="{BB962C8B-B14F-4D97-AF65-F5344CB8AC3E}">
        <p14:creationId xmlns:p14="http://schemas.microsoft.com/office/powerpoint/2010/main" val="1482166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GB" sz="4400" b="1" dirty="0">
                <a:solidFill>
                  <a:srgbClr val="00B0F0"/>
                </a:solidFill>
              </a:rPr>
              <a:t>Correlation between Engine Size and Sales</a:t>
            </a: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a:t>
            </a:r>
            <a:r>
              <a:rPr lang="en-GB" sz="2800" dirty="0">
                <a:solidFill>
                  <a:srgbClr val="00AAE6"/>
                </a:solidFill>
              </a:rPr>
              <a:t>   </a:t>
            </a:r>
            <a:r>
              <a:rPr lang="en-GB" sz="2800" dirty="0">
                <a:solidFill>
                  <a:schemeClr val="tx2">
                    <a:lumMod val="20000"/>
                    <a:lumOff val="80000"/>
                  </a:schemeClr>
                </a:solidFill>
              </a:rPr>
              <a:t>Average Sales Volume by Engine Size.</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pic>
        <p:nvPicPr>
          <p:cNvPr id="10" name="Picture 9">
            <a:extLst>
              <a:ext uri="{FF2B5EF4-FFF2-40B4-BE49-F238E27FC236}">
                <a16:creationId xmlns:a16="http://schemas.microsoft.com/office/drawing/2014/main" id="{C302D95F-6C27-43CF-A796-C9F3664231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229100"/>
            <a:ext cx="10122698" cy="3692296"/>
          </a:xfrm>
          <a:prstGeom prst="rect">
            <a:avLst/>
          </a:prstGeom>
        </p:spPr>
      </p:pic>
      <p:pic>
        <p:nvPicPr>
          <p:cNvPr id="14" name="Picture 13">
            <a:extLst>
              <a:ext uri="{FF2B5EF4-FFF2-40B4-BE49-F238E27FC236}">
                <a16:creationId xmlns:a16="http://schemas.microsoft.com/office/drawing/2014/main" id="{1349024B-99B6-44B4-A087-A51766D36B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5522" y="3390900"/>
            <a:ext cx="5012426" cy="5721254"/>
          </a:xfrm>
          <a:prstGeom prst="rect">
            <a:avLst/>
          </a:prstGeom>
        </p:spPr>
      </p:pic>
    </p:spTree>
    <p:extLst>
      <p:ext uri="{BB962C8B-B14F-4D97-AF65-F5344CB8AC3E}">
        <p14:creationId xmlns:p14="http://schemas.microsoft.com/office/powerpoint/2010/main" val="3239219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GB" sz="4400" b="1" dirty="0">
                <a:solidFill>
                  <a:srgbClr val="00AAE6"/>
                </a:solidFill>
              </a:rPr>
              <a:t>Depreciation Analysis (Categorized by Engine Size)</a:t>
            </a: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a:t>
            </a:r>
            <a:r>
              <a:rPr lang="en-GB" sz="2800" dirty="0">
                <a:solidFill>
                  <a:srgbClr val="00AAE6"/>
                </a:solidFill>
              </a:rPr>
              <a:t>   </a:t>
            </a:r>
            <a:r>
              <a:rPr lang="en-GB" sz="2800" dirty="0">
                <a:solidFill>
                  <a:schemeClr val="tx2">
                    <a:lumMod val="20000"/>
                    <a:lumOff val="80000"/>
                  </a:schemeClr>
                </a:solidFill>
              </a:rPr>
              <a:t>Engine Size Category Analysis.</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pic>
        <p:nvPicPr>
          <p:cNvPr id="6" name="Picture 5">
            <a:extLst>
              <a:ext uri="{FF2B5EF4-FFF2-40B4-BE49-F238E27FC236}">
                <a16:creationId xmlns:a16="http://schemas.microsoft.com/office/drawing/2014/main" id="{F2A71248-531D-4C79-BBA5-C17A68AD3F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2610035"/>
            <a:ext cx="7086600" cy="6981353"/>
          </a:xfrm>
          <a:prstGeom prst="rect">
            <a:avLst/>
          </a:prstGeom>
        </p:spPr>
      </p:pic>
      <p:pic>
        <p:nvPicPr>
          <p:cNvPr id="8" name="Picture 7">
            <a:extLst>
              <a:ext uri="{FF2B5EF4-FFF2-40B4-BE49-F238E27FC236}">
                <a16:creationId xmlns:a16="http://schemas.microsoft.com/office/drawing/2014/main" id="{9970463A-CDF4-4545-9743-EB7178C782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30098" y="4991100"/>
            <a:ext cx="8148302" cy="2225694"/>
          </a:xfrm>
          <a:prstGeom prst="rect">
            <a:avLst/>
          </a:prstGeom>
        </p:spPr>
      </p:pic>
    </p:spTree>
    <p:extLst>
      <p:ext uri="{BB962C8B-B14F-4D97-AF65-F5344CB8AC3E}">
        <p14:creationId xmlns:p14="http://schemas.microsoft.com/office/powerpoint/2010/main" val="1121543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95600" y="483632"/>
            <a:ext cx="14325600" cy="689291"/>
          </a:xfrm>
          <a:prstGeom prst="rect">
            <a:avLst/>
          </a:prstGeom>
        </p:spPr>
        <p:txBody>
          <a:bodyPr vert="horz" wrap="square" lIns="0" tIns="12065" rIns="0" bIns="0" rtlCol="0">
            <a:spAutoFit/>
          </a:bodyPr>
          <a:lstStyle/>
          <a:p>
            <a:pPr marL="12700" algn="r">
              <a:lnSpc>
                <a:spcPct val="100000"/>
              </a:lnSpc>
              <a:spcBef>
                <a:spcPts val="95"/>
              </a:spcBef>
            </a:pPr>
            <a:r>
              <a:rPr lang="en-IN" sz="4400" b="1" dirty="0">
                <a:solidFill>
                  <a:srgbClr val="00B0F0"/>
                </a:solidFill>
              </a:rPr>
              <a:t>Most Profitable Region per Model</a:t>
            </a:r>
            <a:endParaRPr sz="4400" b="1" spc="300" dirty="0">
              <a:solidFill>
                <a:srgbClr val="00B0F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object 4"/>
          <p:cNvSpPr txBox="1"/>
          <p:nvPr/>
        </p:nvSpPr>
        <p:spPr>
          <a:xfrm>
            <a:off x="720436" y="1562100"/>
            <a:ext cx="16957964" cy="443070"/>
          </a:xfrm>
          <a:prstGeom prst="rect">
            <a:avLst/>
          </a:prstGeom>
        </p:spPr>
        <p:txBody>
          <a:bodyPr vert="horz" wrap="square" lIns="0" tIns="12065" rIns="0" bIns="0" rtlCol="0">
            <a:spAutoFit/>
          </a:bodyPr>
          <a:lstStyle/>
          <a:p>
            <a:pPr marL="12700" marR="5080">
              <a:lnSpc>
                <a:spcPct val="100000"/>
              </a:lnSpc>
              <a:spcBef>
                <a:spcPts val="95"/>
              </a:spcBef>
            </a:pPr>
            <a:r>
              <a:rPr lang="en-GB" sz="2800" b="1" dirty="0">
                <a:solidFill>
                  <a:srgbClr val="00AAE6"/>
                </a:solidFill>
              </a:rPr>
              <a:t>Objective:</a:t>
            </a:r>
            <a:r>
              <a:rPr lang="en-GB" sz="2800" dirty="0">
                <a:solidFill>
                  <a:srgbClr val="00AAE6"/>
                </a:solidFill>
              </a:rPr>
              <a:t>   </a:t>
            </a:r>
            <a:r>
              <a:rPr lang="en-GB" sz="2800" dirty="0">
                <a:solidFill>
                  <a:schemeClr val="tx2">
                    <a:lumMod val="20000"/>
                    <a:lumOff val="80000"/>
                  </a:schemeClr>
                </a:solidFill>
              </a:rPr>
              <a:t>Most Profitable Region for Each BMW Model.</a:t>
            </a:r>
            <a:endParaRPr sz="2800" dirty="0">
              <a:solidFill>
                <a:schemeClr val="tx2">
                  <a:lumMod val="20000"/>
                  <a:lumOff val="80000"/>
                </a:schemeClr>
              </a:solidFill>
              <a:latin typeface="Calibri"/>
              <a:cs typeface="Calibri"/>
            </a:endParaRPr>
          </a:p>
        </p:txBody>
      </p:sp>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1" name="object 14">
            <a:extLst>
              <a:ext uri="{FF2B5EF4-FFF2-40B4-BE49-F238E27FC236}">
                <a16:creationId xmlns:a16="http://schemas.microsoft.com/office/drawing/2014/main" id="{ADB209B0-02B1-49BF-BBA5-D19F6BD187B3}"/>
              </a:ext>
            </a:extLst>
          </p:cNvPr>
          <p:cNvSpPr txBox="1"/>
          <p:nvPr/>
        </p:nvSpPr>
        <p:spPr>
          <a:xfrm>
            <a:off x="13852034" y="2403248"/>
            <a:ext cx="1464849" cy="413575"/>
          </a:xfrm>
          <a:prstGeom prst="rect">
            <a:avLst/>
          </a:prstGeom>
        </p:spPr>
        <p:txBody>
          <a:bodyPr vert="horz" wrap="square" lIns="0" tIns="13335" rIns="0" bIns="0" rtlCol="0">
            <a:spAutoFit/>
          </a:bodyPr>
          <a:lstStyle/>
          <a:p>
            <a:pPr marL="12700" algn="ctr">
              <a:lnSpc>
                <a:spcPct val="100000"/>
              </a:lnSpc>
              <a:spcBef>
                <a:spcPts val="105"/>
              </a:spcBef>
            </a:pPr>
            <a:r>
              <a:rPr sz="2600" b="1" spc="-10" dirty="0">
                <a:solidFill>
                  <a:schemeClr val="tx2">
                    <a:lumMod val="20000"/>
                    <a:lumOff val="80000"/>
                  </a:schemeClr>
                </a:solidFill>
                <a:latin typeface="Calibri"/>
                <a:cs typeface="Calibri"/>
              </a:rPr>
              <a:t>OUTPUT</a:t>
            </a:r>
            <a:endParaRPr sz="2600" b="1" dirty="0">
              <a:solidFill>
                <a:schemeClr val="tx2">
                  <a:lumMod val="20000"/>
                  <a:lumOff val="80000"/>
                </a:schemeClr>
              </a:solidFill>
              <a:latin typeface="Calibri"/>
              <a:cs typeface="Calibri"/>
            </a:endParaRPr>
          </a:p>
        </p:txBody>
      </p:sp>
      <p:pic>
        <p:nvPicPr>
          <p:cNvPr id="10" name="Picture 9">
            <a:extLst>
              <a:ext uri="{FF2B5EF4-FFF2-40B4-BE49-F238E27FC236}">
                <a16:creationId xmlns:a16="http://schemas.microsoft.com/office/drawing/2014/main" id="{60BDF55E-22CE-460F-A756-1F03EB1DF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2298640"/>
            <a:ext cx="5791200" cy="7591574"/>
          </a:xfrm>
          <a:prstGeom prst="rect">
            <a:avLst/>
          </a:prstGeom>
        </p:spPr>
      </p:pic>
      <p:pic>
        <p:nvPicPr>
          <p:cNvPr id="13" name="Picture 12">
            <a:extLst>
              <a:ext uri="{FF2B5EF4-FFF2-40B4-BE49-F238E27FC236}">
                <a16:creationId xmlns:a16="http://schemas.microsoft.com/office/drawing/2014/main" id="{C166F2A4-43A2-4F6D-A0C9-9F6563D058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6600" y="3388076"/>
            <a:ext cx="7149329" cy="5336824"/>
          </a:xfrm>
          <a:prstGeom prst="rect">
            <a:avLst/>
          </a:prstGeom>
        </p:spPr>
      </p:pic>
    </p:spTree>
    <p:extLst>
      <p:ext uri="{BB962C8B-B14F-4D97-AF65-F5344CB8AC3E}">
        <p14:creationId xmlns:p14="http://schemas.microsoft.com/office/powerpoint/2010/main" val="3178732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B79DBD-820D-4543-BCD6-531B8CB4C9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387927"/>
            <a:ext cx="880703" cy="880703"/>
          </a:xfrm>
          <a:prstGeom prst="rect">
            <a:avLst/>
          </a:prstGeom>
        </p:spPr>
      </p:pic>
      <p:sp>
        <p:nvSpPr>
          <p:cNvPr id="12" name="object 4">
            <a:extLst>
              <a:ext uri="{FF2B5EF4-FFF2-40B4-BE49-F238E27FC236}">
                <a16:creationId xmlns:a16="http://schemas.microsoft.com/office/drawing/2014/main" id="{CFE2092D-00E2-4325-8AB4-9661293DC421}"/>
              </a:ext>
            </a:extLst>
          </p:cNvPr>
          <p:cNvSpPr txBox="1">
            <a:spLocks noGrp="1"/>
          </p:cNvSpPr>
          <p:nvPr>
            <p:ph idx="1"/>
          </p:nvPr>
        </p:nvSpPr>
        <p:spPr>
          <a:xfrm>
            <a:off x="742950" y="3771900"/>
            <a:ext cx="16802100" cy="4444165"/>
          </a:xfrm>
          <a:prstGeom prst="rect">
            <a:avLst/>
          </a:prstGeom>
        </p:spPr>
        <p:txBody>
          <a:bodyPr vert="horz" wrap="square" lIns="0" tIns="12065" rIns="0" bIns="0" rtlCol="0">
            <a:spAutoFit/>
          </a:bodyPr>
          <a:lstStyle/>
          <a:p>
            <a:pPr marL="0" marR="5080" indent="0" algn="ctr">
              <a:lnSpc>
                <a:spcPct val="100000"/>
              </a:lnSpc>
              <a:spcBef>
                <a:spcPts val="95"/>
              </a:spcBef>
              <a:buNone/>
            </a:pPr>
            <a:r>
              <a:rPr lang="en-GB" sz="3600" dirty="0">
                <a:solidFill>
                  <a:schemeClr val="tx2">
                    <a:lumMod val="20000"/>
                    <a:lumOff val="80000"/>
                  </a:schemeClr>
                </a:solidFill>
              </a:rPr>
              <a:t>The SQL analysis of 14 years of historical BMW data reveals clear pathways to optimize sales strategy. High-volume models vary vastly across borders—while the </a:t>
            </a:r>
            <a:r>
              <a:rPr lang="en-GB" sz="3600" b="1" dirty="0">
                <a:solidFill>
                  <a:schemeClr val="tx2">
                    <a:lumMod val="20000"/>
                    <a:lumOff val="80000"/>
                  </a:schemeClr>
                </a:solidFill>
              </a:rPr>
              <a:t>i8</a:t>
            </a:r>
            <a:r>
              <a:rPr lang="en-GB" sz="3600" dirty="0">
                <a:solidFill>
                  <a:schemeClr val="tx2">
                    <a:lumMod val="20000"/>
                    <a:lumOff val="80000"/>
                  </a:schemeClr>
                </a:solidFill>
              </a:rPr>
              <a:t> commands the highest volume in Europe, the </a:t>
            </a:r>
            <a:r>
              <a:rPr lang="en-GB" sz="3600" b="1" dirty="0">
                <a:solidFill>
                  <a:schemeClr val="tx2">
                    <a:lumMod val="20000"/>
                    <a:lumOff val="80000"/>
                  </a:schemeClr>
                </a:solidFill>
              </a:rPr>
              <a:t>X1</a:t>
            </a:r>
            <a:r>
              <a:rPr lang="en-GB" sz="3600" dirty="0">
                <a:solidFill>
                  <a:schemeClr val="tx2">
                    <a:lumMod val="20000"/>
                    <a:lumOff val="80000"/>
                  </a:schemeClr>
                </a:solidFill>
              </a:rPr>
              <a:t> dominates Asia, meaning regional inventory allocations must remain hyper-localized rather than standardized. Furthermore, Electric Vehicles now command a competitive baseline market premium globally (~$75,276), paving the way for confident marketing of upcoming EV models. By tailoring supply chains to match localized consumer preferences, BMW can effectively increase margins and decrease dormant inventory.</a:t>
            </a:r>
            <a:endParaRPr sz="3600" spc="-10" dirty="0">
              <a:solidFill>
                <a:schemeClr val="tx2">
                  <a:lumMod val="20000"/>
                  <a:lumOff val="80000"/>
                </a:schemeClr>
              </a:solidFill>
            </a:endParaRPr>
          </a:p>
        </p:txBody>
      </p:sp>
      <p:sp>
        <p:nvSpPr>
          <p:cNvPr id="14" name="object 2" descr="$PPTXTitle">
            <a:extLst>
              <a:ext uri="{FF2B5EF4-FFF2-40B4-BE49-F238E27FC236}">
                <a16:creationId xmlns:a16="http://schemas.microsoft.com/office/drawing/2014/main" id="{F4DDAC1F-1457-4657-BF12-265F01AB89B5}"/>
              </a:ext>
            </a:extLst>
          </p:cNvPr>
          <p:cNvSpPr txBox="1">
            <a:spLocks noGrp="1"/>
          </p:cNvSpPr>
          <p:nvPr>
            <p:ph type="title"/>
          </p:nvPr>
        </p:nvSpPr>
        <p:spPr>
          <a:xfrm>
            <a:off x="1257300" y="2070935"/>
            <a:ext cx="15773400" cy="1027845"/>
          </a:xfrm>
          <a:prstGeom prst="rect">
            <a:avLst/>
          </a:prstGeom>
        </p:spPr>
        <p:txBody>
          <a:bodyPr vert="horz" wrap="square" lIns="0" tIns="12065" rIns="0" bIns="0" rtlCol="0">
            <a:spAutoFit/>
          </a:bodyPr>
          <a:lstStyle/>
          <a:p>
            <a:pPr marL="12700" algn="ctr">
              <a:lnSpc>
                <a:spcPct val="100000"/>
              </a:lnSpc>
              <a:spcBef>
                <a:spcPts val="95"/>
              </a:spcBef>
            </a:pPr>
            <a:r>
              <a:rPr lang="en-GB" spc="300" dirty="0">
                <a:solidFill>
                  <a:schemeClr val="tx2">
                    <a:lumMod val="20000"/>
                    <a:lumOff val="80000"/>
                  </a:schemeClr>
                </a:solidFill>
                <a:latin typeface="Calibri" panose="020F0502020204030204" pitchFamily="34" charset="0"/>
                <a:ea typeface="Calibri" panose="020F0502020204030204" pitchFamily="34" charset="0"/>
                <a:cs typeface="Calibri" panose="020F0502020204030204" pitchFamily="34" charset="0"/>
              </a:rPr>
              <a:t>Conclusion &amp; </a:t>
            </a:r>
            <a:r>
              <a:rPr lang="en-GB" spc="300" dirty="0">
                <a:solidFill>
                  <a:srgbClr val="00AAE6"/>
                </a:solidFill>
                <a:latin typeface="Calibri" panose="020F0502020204030204" pitchFamily="34" charset="0"/>
                <a:ea typeface="Calibri" panose="020F0502020204030204" pitchFamily="34" charset="0"/>
                <a:cs typeface="Calibri" panose="020F0502020204030204" pitchFamily="34" charset="0"/>
              </a:rPr>
              <a:t>Recommendations</a:t>
            </a:r>
            <a:endParaRPr spc="300" dirty="0">
              <a:solidFill>
                <a:srgbClr val="00AAE6"/>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3342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0F172A"/>
        </a:solidFill>
        <a:effectLst/>
      </p:bgPr>
    </p:bg>
    <p:spTree>
      <p:nvGrpSpPr>
        <p:cNvPr id="1" name=""/>
        <p:cNvGrpSpPr/>
        <p:nvPr/>
      </p:nvGrpSpPr>
      <p:grpSpPr>
        <a:xfrm>
          <a:off x="0" y="0"/>
          <a:ext cx="0" cy="0"/>
          <a:chOff x="0" y="0"/>
          <a:chExt cx="0" cy="0"/>
        </a:xfrm>
      </p:grpSpPr>
      <p:sp>
        <p:nvSpPr>
          <p:cNvPr id="7" name="object 4" descr="$PPTXTitle">
            <a:extLst>
              <a:ext uri="{FF2B5EF4-FFF2-40B4-BE49-F238E27FC236}">
                <a16:creationId xmlns:a16="http://schemas.microsoft.com/office/drawing/2014/main" id="{3D76D4AB-DB1F-4B4F-8871-5C4C8433E02E}"/>
              </a:ext>
            </a:extLst>
          </p:cNvPr>
          <p:cNvSpPr txBox="1"/>
          <p:nvPr/>
        </p:nvSpPr>
        <p:spPr>
          <a:xfrm>
            <a:off x="8763000" y="4477900"/>
            <a:ext cx="5603240" cy="1320800"/>
          </a:xfrm>
          <a:prstGeom prst="rect">
            <a:avLst/>
          </a:prstGeom>
          <a:ln>
            <a:noFill/>
          </a:ln>
        </p:spPr>
        <p:txBody>
          <a:bodyPr vert="horz" wrap="square" lIns="0" tIns="12065" rIns="0" bIns="0" rtlCol="0">
            <a:spAutoFit/>
          </a:bodyPr>
          <a:lstStyle/>
          <a:p>
            <a:pPr marL="12700">
              <a:lnSpc>
                <a:spcPct val="100000"/>
              </a:lnSpc>
              <a:spcBef>
                <a:spcPts val="95"/>
              </a:spcBef>
            </a:pPr>
            <a:r>
              <a:rPr sz="8500" spc="585" dirty="0">
                <a:solidFill>
                  <a:schemeClr val="tx2">
                    <a:lumMod val="40000"/>
                    <a:lumOff val="60000"/>
                  </a:schemeClr>
                </a:solidFill>
                <a:latin typeface="Calibri"/>
                <a:cs typeface="Calibri"/>
              </a:rPr>
              <a:t>Thank</a:t>
            </a:r>
            <a:r>
              <a:rPr sz="8500" spc="915" dirty="0">
                <a:solidFill>
                  <a:schemeClr val="tx2">
                    <a:lumMod val="40000"/>
                    <a:lumOff val="60000"/>
                  </a:schemeClr>
                </a:solidFill>
                <a:latin typeface="Calibri"/>
                <a:cs typeface="Calibri"/>
              </a:rPr>
              <a:t> </a:t>
            </a:r>
            <a:r>
              <a:rPr sz="8500" spc="330" dirty="0">
                <a:solidFill>
                  <a:schemeClr val="tx2">
                    <a:lumMod val="40000"/>
                    <a:lumOff val="60000"/>
                  </a:schemeClr>
                </a:solidFill>
                <a:latin typeface="Calibri"/>
                <a:cs typeface="Calibri"/>
              </a:rPr>
              <a:t>you!</a:t>
            </a:r>
            <a:endParaRPr sz="8500" dirty="0">
              <a:solidFill>
                <a:schemeClr val="tx2">
                  <a:lumMod val="40000"/>
                  <a:lumOff val="60000"/>
                </a:schemeClr>
              </a:solidFill>
              <a:latin typeface="Calibri"/>
              <a:cs typeface="Calibri"/>
            </a:endParaRPr>
          </a:p>
        </p:txBody>
      </p:sp>
      <p:sp>
        <p:nvSpPr>
          <p:cNvPr id="8" name="Rectangle 7">
            <a:extLst>
              <a:ext uri="{FF2B5EF4-FFF2-40B4-BE49-F238E27FC236}">
                <a16:creationId xmlns:a16="http://schemas.microsoft.com/office/drawing/2014/main" id="{E5AAD4F5-A32A-4E56-B917-A231B28E9426}"/>
              </a:ext>
            </a:extLst>
          </p:cNvPr>
          <p:cNvSpPr/>
          <p:nvPr/>
        </p:nvSpPr>
        <p:spPr>
          <a:xfrm>
            <a:off x="6857285" y="2966600"/>
            <a:ext cx="9144000" cy="4343400"/>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130233C5-F76E-473F-9CCE-63DB441A6A0F}"/>
              </a:ext>
            </a:extLst>
          </p:cNvPr>
          <p:cNvSpPr/>
          <p:nvPr/>
        </p:nvSpPr>
        <p:spPr>
          <a:xfrm>
            <a:off x="6705600" y="2840178"/>
            <a:ext cx="9447371" cy="4596245"/>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EE340371-F42C-4B78-99BB-A9C19C23DF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1490" y="2213490"/>
            <a:ext cx="5849620" cy="58496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428</TotalTime>
  <Words>476</Words>
  <Application>Microsoft Office PowerPoint</Application>
  <PresentationFormat>Custom</PresentationFormat>
  <Paragraphs>44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Tahoma</vt:lpstr>
      <vt:lpstr>Office Theme</vt:lpstr>
      <vt:lpstr>PowerPoint Presentation</vt:lpstr>
      <vt:lpstr>About BMW</vt:lpstr>
      <vt:lpstr>Project Overview</vt:lpstr>
      <vt:lpstr>Business Challenge</vt:lpstr>
      <vt:lpstr>AD-HOC Requests</vt:lpstr>
      <vt:lpstr>Sales Volume by Model</vt:lpstr>
      <vt:lpstr>Top 5 Regions</vt:lpstr>
      <vt:lpstr>Average Price of Electric Vehicles</vt:lpstr>
      <vt:lpstr>Sales in a Specific Year</vt:lpstr>
      <vt:lpstr>High-Volume Models by Region</vt:lpstr>
      <vt:lpstr>Sales Classification Distribution</vt:lpstr>
      <vt:lpstr>Price Difference between Transmission Types</vt:lpstr>
      <vt:lpstr>Correlation between Engine Size and Sales</vt:lpstr>
      <vt:lpstr>Depreciation Analysis (Categorized by Engine Size)</vt:lpstr>
      <vt:lpstr>Most Profitable Region per Model</vt:lpstr>
      <vt:lpstr>Conclusion &amp; 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 Deck Presentation</dc:title>
  <dc:creator>Rajvardhan singh Parmar</dc:creator>
  <cp:lastModifiedBy>Himadree .</cp:lastModifiedBy>
  <cp:revision>30</cp:revision>
  <dcterms:created xsi:type="dcterms:W3CDTF">2025-12-17T05:21:36Z</dcterms:created>
  <dcterms:modified xsi:type="dcterms:W3CDTF">2026-06-05T17:27:13Z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2024-08-11T00:00:00Z</vt:filetime>
  </property>
  <property fmtid="{D5CDD505-2E9C-101B-9397-08002B2CF9AE}" pid="3" name="Creator">
    <vt:lpwstr>Microsoft® PowerPoint® 2021</vt:lpwstr>
  </property>
  <property fmtid="{D5CDD505-2E9C-101B-9397-08002B2CF9AE}" pid="4" name="LastSaved">
    <vt:filetime>2025-12-17T00:00:00Z</vt:filetime>
  </property>
  <property fmtid="{D5CDD505-2E9C-101B-9397-08002B2CF9AE}" pid="5" name="Producer">
    <vt:lpwstr>Microsoft® PowerPoint® 2021</vt:lpwstr>
  </property>
</Properties>
</file>